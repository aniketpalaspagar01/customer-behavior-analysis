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slideLayout" Target="../slideLayouts/slideLayout11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06621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81655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insights from 3,900 purchases to drive strategic decisions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27932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425184"/>
            <a:ext cx="36783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3.9K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1172051" y="34107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3896916"/>
            <a:ext cx="36783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Transactional data analyzed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707374" y="2425184"/>
            <a:ext cx="36783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18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121116" y="34107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Fields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07374" y="3896916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Demographics, purchases, behavior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732842" y="5131832"/>
            <a:ext cx="36783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37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3146584" y="611743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32842" y="6603563"/>
            <a:ext cx="36783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ratings imputed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10928"/>
            <a:ext cx="616303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Python Data Preparation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9651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53794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Imported using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initial exploration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29651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Missing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353794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null values in Review Rating column imputed using median by category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4669988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5007531"/>
            <a:ext cx="4226838" cy="3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309" y="5176718"/>
            <a:ext cx="301656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Column Standardization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8309" y="5662851"/>
            <a:ext cx="42268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Renamed to snake case for readability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201722" y="4669988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722" y="5007531"/>
            <a:ext cx="4226838" cy="30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01722" y="51767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201722" y="5662851"/>
            <a:ext cx="42268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age groups and purchase frequency days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9645134" y="4669988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134" y="5029081"/>
            <a:ext cx="4226957" cy="30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45134" y="51767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645134" y="5662851"/>
            <a:ext cx="422695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Loaded to PostgreSQL for SQL analysis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4570" y="419457"/>
            <a:ext cx="3652599" cy="456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Gender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570" y="1130022"/>
            <a:ext cx="10081141" cy="444234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79230" y="3100983"/>
            <a:ext cx="845463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570" y="3137535"/>
            <a:ext cx="91440" cy="91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77350" y="3123843"/>
            <a:ext cx="616863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Male·67.62%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9486781" y="3123843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·67.62%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9523333" y="312384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9079230" y="3326487"/>
            <a:ext cx="947023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570" y="3363039"/>
            <a:ext cx="91440" cy="91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77350" y="3349347"/>
            <a:ext cx="718423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Female·32.38%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9588341" y="3349347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·32.38%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9624893" y="3349347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2274570" y="6799183"/>
            <a:ext cx="1008114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customers generated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$73,500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revenue, representing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67.6%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total revenue, while female customers contributed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$35,200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or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32.4%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Average transaction value is also slightly higher among male customers at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$42.15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versus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$38.90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female customers.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274570" y="7263527"/>
            <a:ext cx="10081141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revenue gap appears to be driven more by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purchase volume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by a large difference in transaction value, suggesting an opportunity to increase frequency and conversion among female customers through targeted offers, category-specific campaigns, and retention programs.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87091"/>
            <a:ext cx="581310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Products by Rating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57989"/>
            <a:ext cx="4226838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927509"/>
            <a:ext cx="4226838" cy="121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687" y="2633067"/>
            <a:ext cx="649962" cy="6499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1712" y="2795588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05364" y="34996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05364" y="3985736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3.86 average rating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201722" y="2957989"/>
            <a:ext cx="4226838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722" y="2927509"/>
            <a:ext cx="4226838" cy="12192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100" y="2633067"/>
            <a:ext cx="649962" cy="6499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85124" y="2795588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5448776" y="34996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448776" y="3985736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3.84 average rating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9645134" y="2957989"/>
            <a:ext cx="4226957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5134" y="2927509"/>
            <a:ext cx="4226957" cy="12192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3631" y="2633067"/>
            <a:ext cx="649962" cy="64996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28656" y="2795588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9892189" y="34996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892189" y="3985736"/>
            <a:ext cx="37328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3.82 average rating</a:t>
            </a:r>
            <a:endParaRPr lang="en-US" sz="1700" dirty="0"/>
          </a:p>
        </p:txBody>
      </p:sp>
      <p:sp>
        <p:nvSpPr>
          <p:cNvPr id="21" name="Shape 13"/>
          <p:cNvSpPr/>
          <p:nvPr/>
        </p:nvSpPr>
        <p:spPr>
          <a:xfrm>
            <a:off x="758309" y="5120997"/>
            <a:ext cx="6448544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09" y="5090517"/>
            <a:ext cx="6448544" cy="12192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540" y="4796076"/>
            <a:ext cx="649962" cy="64996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52565" y="4958596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15"/>
          <p:cNvSpPr/>
          <p:nvPr/>
        </p:nvSpPr>
        <p:spPr>
          <a:xfrm>
            <a:off x="1005364" y="56626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1005364" y="6148745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3.80 average rating</a:t>
            </a:r>
            <a:endParaRPr lang="en-US" sz="1700" dirty="0"/>
          </a:p>
        </p:txBody>
      </p:sp>
      <p:sp>
        <p:nvSpPr>
          <p:cNvPr id="27" name="Shape 17"/>
          <p:cNvSpPr/>
          <p:nvPr/>
        </p:nvSpPr>
        <p:spPr>
          <a:xfrm>
            <a:off x="7423428" y="5120997"/>
            <a:ext cx="6448663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3428" y="5090517"/>
            <a:ext cx="6448663" cy="12192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2778" y="4796076"/>
            <a:ext cx="649962" cy="64996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517803" y="4958596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19"/>
          <p:cNvSpPr/>
          <p:nvPr/>
        </p:nvSpPr>
        <p:spPr>
          <a:xfrm>
            <a:off x="7670483" y="56626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7670483" y="6148745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3.78 average rating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249091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Shipping &amp; Subscription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2160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Shipping Type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4788813"/>
            <a:ext cx="3549372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Standard: $58.46 avg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Express: $60.48 avg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30339" y="42160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Subscription Status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30339" y="4788813"/>
            <a:ext cx="3549372" cy="1115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Non-subscribers: 2,847 customers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Subscribers: 1,053 customers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42730"/>
            <a:ext cx="766691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Discount-Dependent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096935"/>
            <a:ext cx="3504724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096935"/>
            <a:ext cx="1752362" cy="270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25434" y="3096935"/>
            <a:ext cx="523637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50%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8309" y="36383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309" y="4124444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Half purchased with discount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19819" y="3096935"/>
            <a:ext cx="3497342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19" y="3096935"/>
            <a:ext cx="1713667" cy="2707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79562" y="3096935"/>
            <a:ext cx="531019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49%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219819" y="36383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Sneakers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19819" y="4124444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discount dependency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81329" y="3096935"/>
            <a:ext cx="3497342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329" y="3096935"/>
            <a:ext cx="1713667" cy="2707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341072" y="3096935"/>
            <a:ext cx="531019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49%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9681329" y="36383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Coat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681329" y="4124444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discount appeal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58309" y="5012650"/>
            <a:ext cx="3494603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5012650"/>
            <a:ext cx="1677353" cy="2707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15314" y="5012650"/>
            <a:ext cx="533757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48%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758309" y="55540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Sweater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58309" y="6040160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 discount usage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5219819" y="5012650"/>
            <a:ext cx="3526393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819" y="5012650"/>
            <a:ext cx="1657350" cy="2707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08613" y="5012650"/>
            <a:ext cx="5019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47%</a:t>
            </a:r>
            <a:endParaRPr lang="en-US" sz="2100" dirty="0"/>
          </a:p>
        </p:txBody>
      </p:sp>
      <p:sp>
        <p:nvSpPr>
          <p:cNvPr id="26" name="Text 19"/>
          <p:cNvSpPr/>
          <p:nvPr/>
        </p:nvSpPr>
        <p:spPr>
          <a:xfrm>
            <a:off x="5219819" y="55540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Pants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5219819" y="6040160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Discount-driven purchases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38024"/>
            <a:ext cx="615850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521142" y="3892153"/>
            <a:ext cx="2664857" cy="541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70%</a:t>
            </a:r>
            <a:endParaRPr lang="en-US" sz="4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725" y="2538055"/>
            <a:ext cx="3249930" cy="32499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8274" y="60586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6544747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2,721 repeat customers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82653" y="3892153"/>
            <a:ext cx="2664857" cy="541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28%</a:t>
            </a:r>
            <a:endParaRPr lang="en-US" sz="4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235" y="2538055"/>
            <a:ext cx="3249930" cy="32499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89784" y="60586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9819" y="6544747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1,096 customers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0444163" y="3892153"/>
            <a:ext cx="2664857" cy="541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2%</a:t>
            </a:r>
            <a:endParaRPr lang="en-US" sz="4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745" y="2538055"/>
            <a:ext cx="3249930" cy="32499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51294" y="60586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81329" y="6544747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 customers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714" y="479584"/>
            <a:ext cx="3919776" cy="489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Age Group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714" y="1174313"/>
            <a:ext cx="10818852" cy="4837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5714" y="7347942"/>
            <a:ext cx="10818852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adults ages 18-35 are our revenue engine, generating 51.5% of total sales through frequent repeat purchases. By contrast, customers 55+ shop less often, but they bring real value with larger basket sizes—making them an important growth opportunity.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5043" y="538996"/>
            <a:ext cx="5411986" cy="534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Recommendations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055043" y="1256348"/>
            <a:ext cx="8006715" cy="1517213"/>
          </a:xfrm>
          <a:prstGeom prst="roundRect">
            <a:avLst>
              <a:gd name="adj" fmla="val 1606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064" y="1426369"/>
            <a:ext cx="487442" cy="48744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9128" y="1560314"/>
            <a:ext cx="219313" cy="2193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225064" y="2035612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Boost Subscriptions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6225064" y="2376011"/>
            <a:ext cx="766667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benefits for subscribers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6055043" y="2895362"/>
            <a:ext cx="8006715" cy="1517213"/>
          </a:xfrm>
          <a:prstGeom prst="roundRect">
            <a:avLst>
              <a:gd name="adj" fmla="val 1606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064" y="3065383"/>
            <a:ext cx="487442" cy="48744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9128" y="3199328"/>
            <a:ext cx="219313" cy="2193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25064" y="3674626"/>
            <a:ext cx="2629019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Loyalty Programs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6225064" y="4015026"/>
            <a:ext cx="766667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buyers to move into "Loyal" segment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6055043" y="4534376"/>
            <a:ext cx="8006715" cy="1517213"/>
          </a:xfrm>
          <a:prstGeom prst="roundRect">
            <a:avLst>
              <a:gd name="adj" fmla="val 1606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5064" y="4704398"/>
            <a:ext cx="487442" cy="487442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9128" y="4838343"/>
            <a:ext cx="219313" cy="2193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225064" y="5313640"/>
            <a:ext cx="217741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Review Discount Policy</a:t>
            </a:r>
            <a:endParaRPr lang="en-US" sz="1650" dirty="0"/>
          </a:p>
        </p:txBody>
      </p:sp>
      <p:sp>
        <p:nvSpPr>
          <p:cNvPr id="18" name="Text 9"/>
          <p:cNvSpPr/>
          <p:nvPr/>
        </p:nvSpPr>
        <p:spPr>
          <a:xfrm>
            <a:off x="6225064" y="5654040"/>
            <a:ext cx="766667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sales boosts with margin control</a:t>
            </a:r>
            <a:endParaRPr lang="en-US" sz="1250" dirty="0"/>
          </a:p>
        </p:txBody>
      </p:sp>
      <p:sp>
        <p:nvSpPr>
          <p:cNvPr id="19" name="Shape 10"/>
          <p:cNvSpPr/>
          <p:nvPr/>
        </p:nvSpPr>
        <p:spPr>
          <a:xfrm>
            <a:off x="6055043" y="6173391"/>
            <a:ext cx="8006715" cy="1517213"/>
          </a:xfrm>
          <a:prstGeom prst="roundRect">
            <a:avLst>
              <a:gd name="adj" fmla="val 1606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5064" y="6343412"/>
            <a:ext cx="487442" cy="487442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9128" y="6477357"/>
            <a:ext cx="219313" cy="219313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225064" y="6952655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Targeted Marketing</a:t>
            </a:r>
            <a:endParaRPr lang="en-US" sz="1650" dirty="0"/>
          </a:p>
        </p:txBody>
      </p:sp>
      <p:sp>
        <p:nvSpPr>
          <p:cNvPr id="23" name="Text 12"/>
          <p:cNvSpPr/>
          <p:nvPr/>
        </p:nvSpPr>
        <p:spPr>
          <a:xfrm>
            <a:off x="6225064" y="7293054"/>
            <a:ext cx="766667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high-revenue age groups and express-shipping users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2026-04-25T12:26:20Z</dcterms:created>
  <dcterms:modified xsi:type="dcterms:W3CDTF">2026-04-25T12:26:20Z</dcterms:modified>
</cp:coreProperties>
</file>